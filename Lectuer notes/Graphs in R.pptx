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C8E81-7078-4A35-80C9-FD03C45EBB5B}"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6481B-5C3D-4761-BF03-924920D4D241}" type="slidenum">
              <a:rPr lang="en-US" smtClean="0"/>
              <a:t>‹#›</a:t>
            </a:fld>
            <a:endParaRPr lang="en-US"/>
          </a:p>
        </p:txBody>
      </p:sp>
    </p:spTree>
    <p:extLst>
      <p:ext uri="{BB962C8B-B14F-4D97-AF65-F5344CB8AC3E}">
        <p14:creationId xmlns:p14="http://schemas.microsoft.com/office/powerpoint/2010/main" val="1889950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B623E6-F14C-4E28-9E3F-DCBB267AAFF1}"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3515071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2F6AC0-C8DF-479D-A42C-4A796C1E558C}"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3227765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77C42-3D0F-4CCE-8196-BE28C9660C08}"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2264140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5B039F-A7C7-41A2-A6F6-058A8423773F}"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254341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671B73-D061-46CA-9EFD-2B40F3B3FA12}" type="datetime1">
              <a:rPr lang="en-US" smtClean="0"/>
              <a:t>6/22/2026</a:t>
            </a:fld>
            <a:endParaRPr lang="en-US"/>
          </a:p>
        </p:txBody>
      </p:sp>
      <p:sp>
        <p:nvSpPr>
          <p:cNvPr id="8" name="Footer Placeholder 7"/>
          <p:cNvSpPr>
            <a:spLocks noGrp="1"/>
          </p:cNvSpPr>
          <p:nvPr>
            <p:ph type="ftr" sz="quarter" idx="11"/>
          </p:nvPr>
        </p:nvSpPr>
        <p:spPr/>
        <p:txBody>
          <a:bodyPr/>
          <a:lstStyle/>
          <a:p>
            <a:r>
              <a:rPr lang="en-US"/>
              <a:t>ICBT Batch33</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4171184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3E9CEA-FABC-480B-A711-8785D1C4C40F}" type="datetime1">
              <a:rPr lang="en-US" smtClean="0"/>
              <a:t>6/22/2026</a:t>
            </a:fld>
            <a:endParaRPr lang="en-US"/>
          </a:p>
        </p:txBody>
      </p:sp>
      <p:sp>
        <p:nvSpPr>
          <p:cNvPr id="4" name="Footer Placeholder 3"/>
          <p:cNvSpPr>
            <a:spLocks noGrp="1"/>
          </p:cNvSpPr>
          <p:nvPr>
            <p:ph type="ftr" sz="quarter" idx="11"/>
          </p:nvPr>
        </p:nvSpPr>
        <p:spPr/>
        <p:txBody>
          <a:bodyPr/>
          <a:lstStyle/>
          <a:p>
            <a:r>
              <a:rPr lang="en-US"/>
              <a:t>ICBT Batch33</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4162870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DBCE4-F3D0-43C0-A489-AAA4417298FC}" type="datetime1">
              <a:rPr lang="en-US" smtClean="0"/>
              <a:t>6/22/2026</a:t>
            </a:fld>
            <a:endParaRPr lang="en-US"/>
          </a:p>
        </p:txBody>
      </p:sp>
      <p:sp>
        <p:nvSpPr>
          <p:cNvPr id="3" name="Footer Placeholder 2"/>
          <p:cNvSpPr>
            <a:spLocks noGrp="1"/>
          </p:cNvSpPr>
          <p:nvPr>
            <p:ph type="ftr" sz="quarter" idx="11"/>
          </p:nvPr>
        </p:nvSpPr>
        <p:spPr/>
        <p:txBody>
          <a:bodyPr/>
          <a:lstStyle/>
          <a:p>
            <a:r>
              <a:rPr lang="en-US"/>
              <a:t>ICBT Batch33</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390564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1EC985-2155-4837-822F-6F1CAF048197}"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4197400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9ECC53-3CB3-4440-84B0-5E17BA4D8307}"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876703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BEDE8F-927B-4511-B261-19D04473F0C6}"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71443901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BEDE8F-927B-4511-B261-19D04473F0C6}"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D3B970-1103-4836-A2A6-438B6FE153F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4632892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BEDE8F-927B-4511-B261-19D04473F0C6}"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932275839"/>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BEDE8F-927B-4511-B261-19D04473F0C6}"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D3B970-1103-4836-A2A6-438B6FE153F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14827544"/>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BEDE8F-927B-4511-B261-19D04473F0C6}" type="datetime1">
              <a:rPr lang="en-US" smtClean="0"/>
              <a:t>6/22/2026</a:t>
            </a:fld>
            <a:endParaRPr lang="en-US"/>
          </a:p>
        </p:txBody>
      </p:sp>
      <p:sp>
        <p:nvSpPr>
          <p:cNvPr id="6" name="Footer Placeholder 5"/>
          <p:cNvSpPr>
            <a:spLocks noGrp="1"/>
          </p:cNvSpPr>
          <p:nvPr>
            <p:ph type="ftr" sz="quarter" idx="11"/>
          </p:nvPr>
        </p:nvSpPr>
        <p:spPr/>
        <p:txBody>
          <a:bodyPr/>
          <a:lstStyle/>
          <a:p>
            <a:r>
              <a:rPr lang="en-US"/>
              <a:t>ICBT Batch33</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808726983"/>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01ABD-7D6D-4D5D-B05D-4E3A4FB007B7}"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1421510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F61417-C9B7-4AEE-B1AA-7B91A1FB0F5B}" type="datetime1">
              <a:rPr lang="en-US" smtClean="0"/>
              <a:t>6/22/2026</a:t>
            </a:fld>
            <a:endParaRPr lang="en-US"/>
          </a:p>
        </p:txBody>
      </p:sp>
      <p:sp>
        <p:nvSpPr>
          <p:cNvPr id="5" name="Footer Placeholder 4"/>
          <p:cNvSpPr>
            <a:spLocks noGrp="1"/>
          </p:cNvSpPr>
          <p:nvPr>
            <p:ph type="ftr" sz="quarter" idx="11"/>
          </p:nvPr>
        </p:nvSpPr>
        <p:spPr/>
        <p:txBody>
          <a:bodyPr/>
          <a:lstStyle/>
          <a:p>
            <a:r>
              <a:rPr lang="en-US"/>
              <a:t>ICBT Batch33</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D3B970-1103-4836-A2A6-438B6FE153F8}" type="slidenum">
              <a:rPr lang="en-US" smtClean="0"/>
              <a:t>‹#›</a:t>
            </a:fld>
            <a:endParaRPr lang="en-US"/>
          </a:p>
        </p:txBody>
      </p:sp>
    </p:spTree>
    <p:extLst>
      <p:ext uri="{BB962C8B-B14F-4D97-AF65-F5344CB8AC3E}">
        <p14:creationId xmlns:p14="http://schemas.microsoft.com/office/powerpoint/2010/main" val="2508560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BEDE8F-927B-4511-B261-19D04473F0C6}" type="datetime1">
              <a:rPr lang="en-US" smtClean="0"/>
              <a:t>6/22/2026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ICBT Batch33</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3D3B970-1103-4836-A2A6-438B6FE153F8}" type="slidenum">
              <a:rPr lang="en-US" smtClean="0"/>
              <a:t>‹#›</a:t>
            </a:fld>
            <a:endParaRPr lang="en-US"/>
          </a:p>
        </p:txBody>
      </p:sp>
    </p:spTree>
    <p:extLst>
      <p:ext uri="{BB962C8B-B14F-4D97-AF65-F5344CB8AC3E}">
        <p14:creationId xmlns:p14="http://schemas.microsoft.com/office/powerpoint/2010/main" val="39265243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9CF6-9D77-4543-B2C1-A4744815CC54}"/>
              </a:ext>
            </a:extLst>
          </p:cNvPr>
          <p:cNvSpPr>
            <a:spLocks noGrp="1"/>
          </p:cNvSpPr>
          <p:nvPr>
            <p:ph type="ctrTitle"/>
          </p:nvPr>
        </p:nvSpPr>
        <p:spPr/>
        <p:txBody>
          <a:bodyPr/>
          <a:lstStyle/>
          <a:p>
            <a:r>
              <a:rPr lang="en-US" dirty="0"/>
              <a:t>Different Graphs in R</a:t>
            </a:r>
          </a:p>
        </p:txBody>
      </p:sp>
      <p:sp>
        <p:nvSpPr>
          <p:cNvPr id="3" name="Subtitle 2">
            <a:extLst>
              <a:ext uri="{FF2B5EF4-FFF2-40B4-BE49-F238E27FC236}">
                <a16:creationId xmlns:a16="http://schemas.microsoft.com/office/drawing/2014/main" id="{83363E61-5D13-4C0E-AE81-44905C06EA75}"/>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537F68D8-CCA8-F362-A7A3-F00251B36B20}"/>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F1E7276B-A6EC-8383-64A9-5E9855195A70}"/>
              </a:ext>
            </a:extLst>
          </p:cNvPr>
          <p:cNvSpPr>
            <a:spLocks noGrp="1"/>
          </p:cNvSpPr>
          <p:nvPr>
            <p:ph type="sldNum" sz="quarter" idx="12"/>
          </p:nvPr>
        </p:nvSpPr>
        <p:spPr/>
        <p:txBody>
          <a:bodyPr/>
          <a:lstStyle/>
          <a:p>
            <a:fld id="{13D3B970-1103-4836-A2A6-438B6FE153F8}" type="slidenum">
              <a:rPr lang="en-US" smtClean="0"/>
              <a:t>1</a:t>
            </a:fld>
            <a:endParaRPr lang="en-US"/>
          </a:p>
        </p:txBody>
      </p:sp>
    </p:spTree>
    <p:extLst>
      <p:ext uri="{BB962C8B-B14F-4D97-AF65-F5344CB8AC3E}">
        <p14:creationId xmlns:p14="http://schemas.microsoft.com/office/powerpoint/2010/main" val="773171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7845-1AF1-497A-A854-41E318E975AF}"/>
              </a:ext>
            </a:extLst>
          </p:cNvPr>
          <p:cNvSpPr>
            <a:spLocks noGrp="1"/>
          </p:cNvSpPr>
          <p:nvPr>
            <p:ph type="title"/>
          </p:nvPr>
        </p:nvSpPr>
        <p:spPr/>
        <p:txBody>
          <a:bodyPr/>
          <a:lstStyle/>
          <a:p>
            <a:r>
              <a:rPr lang="en-US" dirty="0"/>
              <a:t>Histograms</a:t>
            </a:r>
          </a:p>
        </p:txBody>
      </p:sp>
      <p:sp>
        <p:nvSpPr>
          <p:cNvPr id="3" name="Content Placeholder 2">
            <a:extLst>
              <a:ext uri="{FF2B5EF4-FFF2-40B4-BE49-F238E27FC236}">
                <a16:creationId xmlns:a16="http://schemas.microsoft.com/office/drawing/2014/main" id="{A9583624-6EAD-425D-8573-CA2B87A2A414}"/>
              </a:ext>
            </a:extLst>
          </p:cNvPr>
          <p:cNvSpPr>
            <a:spLocks noGrp="1"/>
          </p:cNvSpPr>
          <p:nvPr>
            <p:ph idx="1"/>
          </p:nvPr>
        </p:nvSpPr>
        <p:spPr>
          <a:xfrm>
            <a:off x="838199" y="1825625"/>
            <a:ext cx="10995991" cy="4349888"/>
          </a:xfrm>
        </p:spPr>
        <p:txBody>
          <a:bodyPr>
            <a:normAutofit/>
          </a:bodyPr>
          <a:lstStyle/>
          <a:p>
            <a:pPr algn="just"/>
            <a:r>
              <a:rPr lang="en-US" sz="3200" b="0" i="0" dirty="0">
                <a:solidFill>
                  <a:srgbClr val="404040"/>
                </a:solidFill>
                <a:effectLst/>
                <a:latin typeface="Lato" panose="020B0604020202020204" pitchFamily="34" charset="0"/>
              </a:rPr>
              <a:t>A histogram is very common plot. </a:t>
            </a:r>
          </a:p>
          <a:p>
            <a:pPr algn="just"/>
            <a:r>
              <a:rPr lang="en-US" sz="3200" b="0" i="0" dirty="0">
                <a:solidFill>
                  <a:srgbClr val="404040"/>
                </a:solidFill>
                <a:effectLst/>
                <a:latin typeface="Lato" panose="020B0604020202020204" pitchFamily="34" charset="0"/>
              </a:rPr>
              <a:t>It plots the frequencies that data appears within certain ranges.</a:t>
            </a:r>
          </a:p>
          <a:p>
            <a:pPr algn="just"/>
            <a:endParaRPr lang="en-US" sz="3200" dirty="0">
              <a:solidFill>
                <a:srgbClr val="404040"/>
              </a:solidFill>
              <a:latin typeface="Lato" panose="020B0604020202020204" pitchFamily="34" charset="0"/>
            </a:endParaRPr>
          </a:p>
          <a:p>
            <a:pPr algn="just"/>
            <a:r>
              <a:rPr kumimoji="0" lang="en-US" altLang="en-US" sz="3200" b="0" i="0" u="none" strike="noStrike" cap="none" normalizeH="0" baseline="0" dirty="0">
                <a:ln>
                  <a:noFill/>
                </a:ln>
                <a:solidFill>
                  <a:srgbClr val="404040"/>
                </a:solidFill>
                <a:effectLst/>
                <a:latin typeface="Consolas" panose="020B0609020204030204" pitchFamily="49" charset="0"/>
              </a:rPr>
              <a:t>hist(</a:t>
            </a:r>
            <a:r>
              <a:rPr kumimoji="0" lang="en-US" altLang="en-US" sz="3200" b="0" i="0" u="none" strike="noStrike" cap="none" normalizeH="0" baseline="0" dirty="0" err="1">
                <a:ln>
                  <a:noFill/>
                </a:ln>
                <a:solidFill>
                  <a:srgbClr val="404040"/>
                </a:solidFill>
                <a:effectLst/>
                <a:latin typeface="Consolas" panose="020B0609020204030204" pitchFamily="49" charset="0"/>
              </a:rPr>
              <a:t>dataset,main</a:t>
            </a:r>
            <a:r>
              <a:rPr kumimoji="0" lang="en-US" altLang="en-US" sz="3200" b="0" i="0" u="none" strike="noStrike" cap="none" normalizeH="0" baseline="0" dirty="0">
                <a:ln>
                  <a:noFill/>
                </a:ln>
                <a:solidFill>
                  <a:srgbClr val="404040"/>
                </a:solidFill>
                <a:effectLst/>
                <a:latin typeface="Consolas" panose="020B0609020204030204" pitchFamily="49" charset="0"/>
              </a:rPr>
              <a:t>=</a:t>
            </a:r>
            <a:r>
              <a:rPr kumimoji="0" lang="en-US" altLang="en-US" sz="3200" b="0" i="0" u="none" strike="noStrike" cap="none" normalizeH="0" baseline="0" dirty="0">
                <a:ln>
                  <a:noFill/>
                </a:ln>
                <a:solidFill>
                  <a:srgbClr val="DD1144"/>
                </a:solidFill>
                <a:effectLst/>
                <a:latin typeface="Consolas" panose="020B0609020204030204" pitchFamily="49" charset="0"/>
              </a:rPr>
              <a:t>“average marks"</a:t>
            </a:r>
            <a:r>
              <a:rPr kumimoji="0" lang="en-US" altLang="en-US" sz="3200" b="0" i="0" u="none" strike="noStrike" cap="none" normalizeH="0" baseline="0" dirty="0">
                <a:ln>
                  <a:noFill/>
                </a:ln>
                <a:solidFill>
                  <a:srgbClr val="404040"/>
                </a:solidFill>
                <a:effectLst/>
                <a:latin typeface="Consolas" panose="020B0609020204030204" pitchFamily="49" charset="0"/>
              </a:rPr>
              <a:t>,</a:t>
            </a:r>
            <a:r>
              <a:rPr kumimoji="0" lang="en-US" altLang="en-US" sz="3200" b="0" i="0" u="none" strike="noStrike" cap="none" normalizeH="0" baseline="0" dirty="0" err="1">
                <a:ln>
                  <a:noFill/>
                </a:ln>
                <a:solidFill>
                  <a:srgbClr val="404040"/>
                </a:solidFill>
                <a:effectLst/>
                <a:latin typeface="Consolas" panose="020B0609020204030204" pitchFamily="49" charset="0"/>
              </a:rPr>
              <a:t>xlab</a:t>
            </a:r>
            <a:r>
              <a:rPr kumimoji="0" lang="en-US" altLang="en-US" sz="3200" b="0" i="0" u="none" strike="noStrike" cap="none" normalizeH="0" baseline="0" dirty="0">
                <a:ln>
                  <a:noFill/>
                </a:ln>
                <a:solidFill>
                  <a:srgbClr val="404040"/>
                </a:solidFill>
                <a:effectLst/>
                <a:latin typeface="Consolas" panose="020B0609020204030204" pitchFamily="49" charset="0"/>
              </a:rPr>
              <a:t>=“index”)</a:t>
            </a:r>
            <a:r>
              <a:rPr kumimoji="0" lang="en-US" altLang="en-US" sz="4400" b="0" i="0" u="none" strike="noStrike" cap="none" normalizeH="0" baseline="0" dirty="0">
                <a:ln>
                  <a:noFill/>
                </a:ln>
                <a:solidFill>
                  <a:schemeClr val="tx1"/>
                </a:solidFill>
                <a:effectLst/>
              </a:rPr>
              <a:t> </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algn="just"/>
            <a:endParaRPr lang="en-US" sz="3200" dirty="0"/>
          </a:p>
        </p:txBody>
      </p:sp>
      <p:sp>
        <p:nvSpPr>
          <p:cNvPr id="4" name="Footer Placeholder 3">
            <a:extLst>
              <a:ext uri="{FF2B5EF4-FFF2-40B4-BE49-F238E27FC236}">
                <a16:creationId xmlns:a16="http://schemas.microsoft.com/office/drawing/2014/main" id="{53CFE767-2DFC-FAA8-C5A7-036F89C34B6B}"/>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0E0D640E-13A1-99AF-04DC-B877345D4156}"/>
              </a:ext>
            </a:extLst>
          </p:cNvPr>
          <p:cNvSpPr>
            <a:spLocks noGrp="1"/>
          </p:cNvSpPr>
          <p:nvPr>
            <p:ph type="sldNum" sz="quarter" idx="12"/>
          </p:nvPr>
        </p:nvSpPr>
        <p:spPr/>
        <p:txBody>
          <a:bodyPr/>
          <a:lstStyle/>
          <a:p>
            <a:fld id="{13D3B970-1103-4836-A2A6-438B6FE153F8}" type="slidenum">
              <a:rPr lang="en-US" smtClean="0"/>
              <a:t>2</a:t>
            </a:fld>
            <a:endParaRPr lang="en-US"/>
          </a:p>
        </p:txBody>
      </p:sp>
    </p:spTree>
    <p:extLst>
      <p:ext uri="{BB962C8B-B14F-4D97-AF65-F5344CB8AC3E}">
        <p14:creationId xmlns:p14="http://schemas.microsoft.com/office/powerpoint/2010/main" val="161669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F0671-4019-4FB8-A63A-F9BFB5C24E1C}"/>
              </a:ext>
            </a:extLst>
          </p:cNvPr>
          <p:cNvSpPr>
            <a:spLocks noGrp="1"/>
          </p:cNvSpPr>
          <p:nvPr>
            <p:ph type="title"/>
          </p:nvPr>
        </p:nvSpPr>
        <p:spPr/>
        <p:txBody>
          <a:bodyPr/>
          <a:lstStyle/>
          <a:p>
            <a:r>
              <a:rPr lang="en-US" dirty="0"/>
              <a:t>Boxplot</a:t>
            </a:r>
          </a:p>
        </p:txBody>
      </p:sp>
      <p:sp>
        <p:nvSpPr>
          <p:cNvPr id="3" name="Content Placeholder 2">
            <a:extLst>
              <a:ext uri="{FF2B5EF4-FFF2-40B4-BE49-F238E27FC236}">
                <a16:creationId xmlns:a16="http://schemas.microsoft.com/office/drawing/2014/main" id="{EBD540F5-1C1D-4C73-8219-3567553DA5C8}"/>
              </a:ext>
            </a:extLst>
          </p:cNvPr>
          <p:cNvSpPr>
            <a:spLocks noGrp="1"/>
          </p:cNvSpPr>
          <p:nvPr>
            <p:ph idx="1"/>
          </p:nvPr>
        </p:nvSpPr>
        <p:spPr/>
        <p:txBody>
          <a:bodyPr>
            <a:normAutofit/>
          </a:bodyPr>
          <a:lstStyle/>
          <a:p>
            <a:pPr algn="just"/>
            <a:r>
              <a:rPr lang="en-US" sz="3200" b="0" i="0" dirty="0">
                <a:solidFill>
                  <a:srgbClr val="404040"/>
                </a:solidFill>
                <a:effectLst/>
                <a:latin typeface="Lato" panose="020F0502020204030203" pitchFamily="34" charset="0"/>
              </a:rPr>
              <a:t>A boxplot provides a graphical view of the median, quartiles, maximum, and minimum of a data set. </a:t>
            </a:r>
          </a:p>
          <a:p>
            <a:pPr algn="just"/>
            <a:endParaRPr lang="en-US" sz="3200" dirty="0">
              <a:solidFill>
                <a:srgbClr val="404040"/>
              </a:solidFill>
              <a:latin typeface="Lato" panose="020F0502020204030203" pitchFamily="34" charset="0"/>
            </a:endParaRPr>
          </a:p>
          <a:p>
            <a:pPr algn="just"/>
            <a:r>
              <a:rPr kumimoji="0" lang="en-US" altLang="en-US" sz="3200" b="0" i="0" u="none" strike="noStrike" cap="none" normalizeH="0" baseline="0" dirty="0">
                <a:ln>
                  <a:noFill/>
                </a:ln>
                <a:solidFill>
                  <a:srgbClr val="404040"/>
                </a:solidFill>
                <a:effectLst/>
                <a:latin typeface="Consolas" panose="020B0609020204030204" pitchFamily="49" charset="0"/>
              </a:rPr>
              <a:t>boxplot(dataset)</a:t>
            </a:r>
            <a:r>
              <a:rPr kumimoji="0" lang="en-US" altLang="en-US" sz="4400" b="0" i="0" u="none" strike="noStrike" cap="none" normalizeH="0" baseline="0" dirty="0">
                <a:ln>
                  <a:noFill/>
                </a:ln>
                <a:solidFill>
                  <a:schemeClr val="tx1"/>
                </a:solidFill>
                <a:effectLst/>
              </a:rPr>
              <a:t> </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algn="just"/>
            <a:endParaRPr lang="en-US" sz="3200" dirty="0"/>
          </a:p>
        </p:txBody>
      </p:sp>
      <p:sp>
        <p:nvSpPr>
          <p:cNvPr id="4" name="Footer Placeholder 3">
            <a:extLst>
              <a:ext uri="{FF2B5EF4-FFF2-40B4-BE49-F238E27FC236}">
                <a16:creationId xmlns:a16="http://schemas.microsoft.com/office/drawing/2014/main" id="{B62DAD07-8721-E145-7E26-156B985F87C0}"/>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A529BB39-6668-1067-4648-CF0B9D0E37CC}"/>
              </a:ext>
            </a:extLst>
          </p:cNvPr>
          <p:cNvSpPr>
            <a:spLocks noGrp="1"/>
          </p:cNvSpPr>
          <p:nvPr>
            <p:ph type="sldNum" sz="quarter" idx="12"/>
          </p:nvPr>
        </p:nvSpPr>
        <p:spPr/>
        <p:txBody>
          <a:bodyPr/>
          <a:lstStyle/>
          <a:p>
            <a:fld id="{13D3B970-1103-4836-A2A6-438B6FE153F8}" type="slidenum">
              <a:rPr lang="en-US" smtClean="0"/>
              <a:t>3</a:t>
            </a:fld>
            <a:endParaRPr lang="en-US"/>
          </a:p>
        </p:txBody>
      </p:sp>
    </p:spTree>
    <p:extLst>
      <p:ext uri="{BB962C8B-B14F-4D97-AF65-F5344CB8AC3E}">
        <p14:creationId xmlns:p14="http://schemas.microsoft.com/office/powerpoint/2010/main" val="2224891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97FDA-51EE-48A4-8AE2-28C8321E7137}"/>
              </a:ext>
            </a:extLst>
          </p:cNvPr>
          <p:cNvSpPr>
            <a:spLocks noGrp="1"/>
          </p:cNvSpPr>
          <p:nvPr>
            <p:ph type="title"/>
          </p:nvPr>
        </p:nvSpPr>
        <p:spPr/>
        <p:txBody>
          <a:bodyPr/>
          <a:lstStyle/>
          <a:p>
            <a:r>
              <a:rPr lang="en-US" dirty="0"/>
              <a:t>Scatter Plot</a:t>
            </a:r>
          </a:p>
        </p:txBody>
      </p:sp>
      <p:sp>
        <p:nvSpPr>
          <p:cNvPr id="3" name="Content Placeholder 2">
            <a:extLst>
              <a:ext uri="{FF2B5EF4-FFF2-40B4-BE49-F238E27FC236}">
                <a16:creationId xmlns:a16="http://schemas.microsoft.com/office/drawing/2014/main" id="{F16A8678-306D-4DDA-904B-FB1742A8B10C}"/>
              </a:ext>
            </a:extLst>
          </p:cNvPr>
          <p:cNvSpPr>
            <a:spLocks noGrp="1"/>
          </p:cNvSpPr>
          <p:nvPr>
            <p:ph idx="1"/>
          </p:nvPr>
        </p:nvSpPr>
        <p:spPr/>
        <p:txBody>
          <a:bodyPr>
            <a:normAutofit/>
          </a:bodyPr>
          <a:lstStyle/>
          <a:p>
            <a:pPr algn="just"/>
            <a:r>
              <a:rPr lang="en-US" sz="3200" b="0" i="0" dirty="0">
                <a:solidFill>
                  <a:srgbClr val="404040"/>
                </a:solidFill>
                <a:effectLst/>
                <a:latin typeface="Lato" panose="020F0502020204030203" pitchFamily="34" charset="0"/>
              </a:rPr>
              <a:t>A scatter plot provides a graphical view of the relationship between two sets of numbers.</a:t>
            </a:r>
          </a:p>
          <a:p>
            <a:pPr algn="just"/>
            <a:endParaRPr lang="en-US" sz="3200" dirty="0">
              <a:solidFill>
                <a:srgbClr val="404040"/>
              </a:solidFill>
              <a:latin typeface="Lato" panose="020F0502020204030203" pitchFamily="34" charset="0"/>
            </a:endParaRPr>
          </a:p>
          <a:p>
            <a:pPr algn="just"/>
            <a:r>
              <a:rPr lang="en-US" sz="3200" dirty="0"/>
              <a:t>plot(dataset1, dataset2, main=“Chart Title", </a:t>
            </a:r>
            <a:r>
              <a:rPr lang="en-US" sz="3200" dirty="0" err="1"/>
              <a:t>xlab</a:t>
            </a:r>
            <a:r>
              <a:rPr lang="en-US" sz="3200" dirty="0"/>
              <a:t>=“X Axis Title", </a:t>
            </a:r>
            <a:r>
              <a:rPr lang="en-US" sz="3200" dirty="0" err="1"/>
              <a:t>ylab</a:t>
            </a:r>
            <a:r>
              <a:rPr lang="en-US" sz="3200" dirty="0"/>
              <a:t>=“Y Axis Title")</a:t>
            </a:r>
          </a:p>
        </p:txBody>
      </p:sp>
      <p:sp>
        <p:nvSpPr>
          <p:cNvPr id="4" name="Footer Placeholder 3">
            <a:extLst>
              <a:ext uri="{FF2B5EF4-FFF2-40B4-BE49-F238E27FC236}">
                <a16:creationId xmlns:a16="http://schemas.microsoft.com/office/drawing/2014/main" id="{21A9AF64-DEF7-73BF-D8B1-03B6DCB4B647}"/>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7FDF487E-73EB-7A6B-5499-09D7F27EA0F6}"/>
              </a:ext>
            </a:extLst>
          </p:cNvPr>
          <p:cNvSpPr>
            <a:spLocks noGrp="1"/>
          </p:cNvSpPr>
          <p:nvPr>
            <p:ph type="sldNum" sz="quarter" idx="12"/>
          </p:nvPr>
        </p:nvSpPr>
        <p:spPr/>
        <p:txBody>
          <a:bodyPr/>
          <a:lstStyle/>
          <a:p>
            <a:fld id="{13D3B970-1103-4836-A2A6-438B6FE153F8}" type="slidenum">
              <a:rPr lang="en-US" smtClean="0"/>
              <a:t>4</a:t>
            </a:fld>
            <a:endParaRPr lang="en-US"/>
          </a:p>
        </p:txBody>
      </p:sp>
    </p:spTree>
    <p:extLst>
      <p:ext uri="{BB962C8B-B14F-4D97-AF65-F5344CB8AC3E}">
        <p14:creationId xmlns:p14="http://schemas.microsoft.com/office/powerpoint/2010/main" val="3573972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60161-8DD9-4026-8B57-527749DB127A}"/>
              </a:ext>
            </a:extLst>
          </p:cNvPr>
          <p:cNvSpPr>
            <a:spLocks noGrp="1"/>
          </p:cNvSpPr>
          <p:nvPr>
            <p:ph type="title"/>
          </p:nvPr>
        </p:nvSpPr>
        <p:spPr/>
        <p:txBody>
          <a:bodyPr/>
          <a:lstStyle/>
          <a:p>
            <a:r>
              <a:rPr lang="en-US" dirty="0"/>
              <a:t>Normal QQ Plot</a:t>
            </a:r>
          </a:p>
        </p:txBody>
      </p:sp>
      <p:sp>
        <p:nvSpPr>
          <p:cNvPr id="3" name="Content Placeholder 2">
            <a:extLst>
              <a:ext uri="{FF2B5EF4-FFF2-40B4-BE49-F238E27FC236}">
                <a16:creationId xmlns:a16="http://schemas.microsoft.com/office/drawing/2014/main" id="{57AE718F-E610-4902-9431-63CF14266144}"/>
              </a:ext>
            </a:extLst>
          </p:cNvPr>
          <p:cNvSpPr>
            <a:spLocks noGrp="1"/>
          </p:cNvSpPr>
          <p:nvPr>
            <p:ph idx="1"/>
          </p:nvPr>
        </p:nvSpPr>
        <p:spPr/>
        <p:txBody>
          <a:bodyPr>
            <a:normAutofit fontScale="85000" lnSpcReduction="20000"/>
          </a:bodyPr>
          <a:lstStyle/>
          <a:p>
            <a:pPr algn="just"/>
            <a:r>
              <a:rPr lang="en-US" sz="3200" b="0" i="0" dirty="0">
                <a:solidFill>
                  <a:srgbClr val="404040"/>
                </a:solidFill>
                <a:effectLst/>
                <a:latin typeface="Lato" panose="020F0502020204030203" pitchFamily="34" charset="0"/>
              </a:rPr>
              <a:t>The final type of plot that we look at is the normal quantile plot. </a:t>
            </a:r>
          </a:p>
          <a:p>
            <a:pPr algn="just"/>
            <a:r>
              <a:rPr lang="en-US" sz="3200" b="0" i="0" dirty="0">
                <a:solidFill>
                  <a:srgbClr val="404040"/>
                </a:solidFill>
                <a:effectLst/>
                <a:latin typeface="Lato" panose="020F0502020204030203" pitchFamily="34" charset="0"/>
              </a:rPr>
              <a:t>This plot is used to determine if your data is close to being normally distributed. </a:t>
            </a:r>
          </a:p>
          <a:p>
            <a:pPr algn="just"/>
            <a:r>
              <a:rPr lang="en-US" sz="3200" b="0" i="0" dirty="0">
                <a:solidFill>
                  <a:srgbClr val="404040"/>
                </a:solidFill>
                <a:effectLst/>
                <a:latin typeface="Lato" panose="020F0502020204030203" pitchFamily="34" charset="0"/>
              </a:rPr>
              <a:t>You cannot be sure that the data is normally distributed, but you can rule out if it is not normally distributed. </a:t>
            </a:r>
          </a:p>
          <a:p>
            <a:pPr marL="0" indent="0" algn="just">
              <a:buNone/>
            </a:pPr>
            <a:endParaRPr lang="en-US" sz="3200"/>
          </a:p>
          <a:p>
            <a:pPr marL="0" indent="0" algn="just">
              <a:buNone/>
            </a:pPr>
            <a:r>
              <a:rPr lang="en-US" sz="3200"/>
              <a:t>qqnorm</a:t>
            </a:r>
            <a:r>
              <a:rPr lang="en-US" sz="3200" dirty="0"/>
              <a:t>(Dataset)</a:t>
            </a:r>
          </a:p>
        </p:txBody>
      </p:sp>
      <p:sp>
        <p:nvSpPr>
          <p:cNvPr id="4" name="Footer Placeholder 3">
            <a:extLst>
              <a:ext uri="{FF2B5EF4-FFF2-40B4-BE49-F238E27FC236}">
                <a16:creationId xmlns:a16="http://schemas.microsoft.com/office/drawing/2014/main" id="{3AC9AE97-B73C-27BE-E169-52451FDDC47B}"/>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3B933A89-696D-E375-227C-F7BB2D998D0B}"/>
              </a:ext>
            </a:extLst>
          </p:cNvPr>
          <p:cNvSpPr>
            <a:spLocks noGrp="1"/>
          </p:cNvSpPr>
          <p:nvPr>
            <p:ph type="sldNum" sz="quarter" idx="12"/>
          </p:nvPr>
        </p:nvSpPr>
        <p:spPr/>
        <p:txBody>
          <a:bodyPr/>
          <a:lstStyle/>
          <a:p>
            <a:fld id="{13D3B970-1103-4836-A2A6-438B6FE153F8}" type="slidenum">
              <a:rPr lang="en-US" smtClean="0"/>
              <a:t>5</a:t>
            </a:fld>
            <a:endParaRPr lang="en-US"/>
          </a:p>
        </p:txBody>
      </p:sp>
    </p:spTree>
    <p:extLst>
      <p:ext uri="{BB962C8B-B14F-4D97-AF65-F5344CB8AC3E}">
        <p14:creationId xmlns:p14="http://schemas.microsoft.com/office/powerpoint/2010/main" val="423583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1C3C-7184-48F1-AA93-AEE6C995356C}"/>
              </a:ext>
            </a:extLst>
          </p:cNvPr>
          <p:cNvSpPr>
            <a:spLocks noGrp="1"/>
          </p:cNvSpPr>
          <p:nvPr>
            <p:ph type="ctrTitle"/>
          </p:nvPr>
        </p:nvSpPr>
        <p:spPr/>
        <p:txBody>
          <a:bodyPr/>
          <a:lstStyle/>
          <a:p>
            <a:r>
              <a:rPr lang="en-US" dirty="0"/>
              <a:t>Hypothesis Testing</a:t>
            </a:r>
          </a:p>
        </p:txBody>
      </p:sp>
      <p:sp>
        <p:nvSpPr>
          <p:cNvPr id="4" name="Footer Placeholder 3">
            <a:extLst>
              <a:ext uri="{FF2B5EF4-FFF2-40B4-BE49-F238E27FC236}">
                <a16:creationId xmlns:a16="http://schemas.microsoft.com/office/drawing/2014/main" id="{BADFE7BC-4B2E-446E-B1D7-55904CA58BAD}"/>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46E42DD5-99E2-4BC9-BB25-FD213D6DD048}"/>
              </a:ext>
            </a:extLst>
          </p:cNvPr>
          <p:cNvSpPr>
            <a:spLocks noGrp="1"/>
          </p:cNvSpPr>
          <p:nvPr>
            <p:ph type="sldNum" sz="quarter" idx="12"/>
          </p:nvPr>
        </p:nvSpPr>
        <p:spPr/>
        <p:txBody>
          <a:bodyPr/>
          <a:lstStyle/>
          <a:p>
            <a:fld id="{77B0C4F3-D181-4D8A-A810-43D5FF850472}" type="slidenum">
              <a:rPr lang="en-US" smtClean="0"/>
              <a:t>6</a:t>
            </a:fld>
            <a:endParaRPr lang="en-US"/>
          </a:p>
        </p:txBody>
      </p:sp>
    </p:spTree>
    <p:extLst>
      <p:ext uri="{BB962C8B-B14F-4D97-AF65-F5344CB8AC3E}">
        <p14:creationId xmlns:p14="http://schemas.microsoft.com/office/powerpoint/2010/main" val="38260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76DF-28DE-4C6C-B440-AB2098D64673}"/>
              </a:ext>
            </a:extLst>
          </p:cNvPr>
          <p:cNvSpPr>
            <a:spLocks noGrp="1"/>
          </p:cNvSpPr>
          <p:nvPr>
            <p:ph type="title"/>
          </p:nvPr>
        </p:nvSpPr>
        <p:spPr/>
        <p:txBody>
          <a:bodyPr/>
          <a:lstStyle/>
          <a:p>
            <a:r>
              <a:rPr lang="en-US" dirty="0"/>
              <a:t>T Test</a:t>
            </a:r>
          </a:p>
        </p:txBody>
      </p:sp>
      <p:sp>
        <p:nvSpPr>
          <p:cNvPr id="3" name="Content Placeholder 2">
            <a:extLst>
              <a:ext uri="{FF2B5EF4-FFF2-40B4-BE49-F238E27FC236}">
                <a16:creationId xmlns:a16="http://schemas.microsoft.com/office/drawing/2014/main" id="{F261BA07-C5B8-4DAA-80E9-1D745087395B}"/>
              </a:ext>
            </a:extLst>
          </p:cNvPr>
          <p:cNvSpPr>
            <a:spLocks noGrp="1"/>
          </p:cNvSpPr>
          <p:nvPr>
            <p:ph idx="1"/>
          </p:nvPr>
        </p:nvSpPr>
        <p:spPr/>
        <p:txBody>
          <a:bodyPr>
            <a:normAutofit fontScale="92500" lnSpcReduction="10000"/>
          </a:bodyPr>
          <a:lstStyle/>
          <a:p>
            <a:pPr algn="just"/>
            <a:r>
              <a:rPr lang="en-US" sz="3200" b="0" i="0" dirty="0">
                <a:solidFill>
                  <a:srgbClr val="444444"/>
                </a:solidFill>
                <a:effectLst/>
                <a:latin typeface="Georgia" panose="02040502050405020303" pitchFamily="18" charset="0"/>
              </a:rPr>
              <a:t>The Student’s T-test is a method for comparing two samples. </a:t>
            </a:r>
          </a:p>
          <a:p>
            <a:pPr algn="just"/>
            <a:r>
              <a:rPr lang="en-US" sz="3200" b="0" i="0" dirty="0">
                <a:solidFill>
                  <a:srgbClr val="444444"/>
                </a:solidFill>
                <a:effectLst/>
                <a:latin typeface="Georgia" panose="02040502050405020303" pitchFamily="18" charset="0"/>
              </a:rPr>
              <a:t>It can be implemented to determine whether the samples are different. </a:t>
            </a:r>
          </a:p>
          <a:p>
            <a:pPr algn="just"/>
            <a:r>
              <a:rPr lang="en-US" sz="3200" b="0" i="0" dirty="0">
                <a:solidFill>
                  <a:srgbClr val="444444"/>
                </a:solidFill>
                <a:effectLst/>
                <a:latin typeface="Georgia" panose="02040502050405020303" pitchFamily="18" charset="0"/>
              </a:rPr>
              <a:t>This is a parametric test, and the data should be normally distributed.</a:t>
            </a:r>
          </a:p>
          <a:p>
            <a:pPr algn="just"/>
            <a:r>
              <a:rPr lang="en-US" sz="3200" b="0" i="0" dirty="0">
                <a:solidFill>
                  <a:srgbClr val="444444"/>
                </a:solidFill>
                <a:effectLst/>
                <a:latin typeface="Georgia" panose="02040502050405020303" pitchFamily="18" charset="0"/>
              </a:rPr>
              <a:t>The test can be used to deal with two- and one-sample tests as well as paired tests.</a:t>
            </a:r>
            <a:endParaRPr lang="en-US" sz="3200" dirty="0"/>
          </a:p>
        </p:txBody>
      </p:sp>
      <p:sp>
        <p:nvSpPr>
          <p:cNvPr id="4" name="Footer Placeholder 3">
            <a:extLst>
              <a:ext uri="{FF2B5EF4-FFF2-40B4-BE49-F238E27FC236}">
                <a16:creationId xmlns:a16="http://schemas.microsoft.com/office/drawing/2014/main" id="{1AE3FAC8-729F-4F51-887A-2C6FBCAC69AC}"/>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4883B4A5-3BB4-4D5F-BEB4-D51BDDD50B76}"/>
              </a:ext>
            </a:extLst>
          </p:cNvPr>
          <p:cNvSpPr>
            <a:spLocks noGrp="1"/>
          </p:cNvSpPr>
          <p:nvPr>
            <p:ph type="sldNum" sz="quarter" idx="12"/>
          </p:nvPr>
        </p:nvSpPr>
        <p:spPr/>
        <p:txBody>
          <a:bodyPr/>
          <a:lstStyle/>
          <a:p>
            <a:fld id="{77B0C4F3-D181-4D8A-A810-43D5FF850472}" type="slidenum">
              <a:rPr lang="en-US" smtClean="0"/>
              <a:t>7</a:t>
            </a:fld>
            <a:endParaRPr lang="en-US"/>
          </a:p>
        </p:txBody>
      </p:sp>
    </p:spTree>
    <p:extLst>
      <p:ext uri="{BB962C8B-B14F-4D97-AF65-F5344CB8AC3E}">
        <p14:creationId xmlns:p14="http://schemas.microsoft.com/office/powerpoint/2010/main" val="480287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88745-04EF-492D-B067-0B2DEF45242A}"/>
              </a:ext>
            </a:extLst>
          </p:cNvPr>
          <p:cNvSpPr>
            <a:spLocks noGrp="1"/>
          </p:cNvSpPr>
          <p:nvPr>
            <p:ph type="title"/>
          </p:nvPr>
        </p:nvSpPr>
        <p:spPr/>
        <p:txBody>
          <a:bodyPr/>
          <a:lstStyle/>
          <a:p>
            <a:r>
              <a:rPr lang="en-US" dirty="0"/>
              <a:t>T Test Commands</a:t>
            </a:r>
          </a:p>
        </p:txBody>
      </p:sp>
      <p:sp>
        <p:nvSpPr>
          <p:cNvPr id="3" name="Content Placeholder 2">
            <a:extLst>
              <a:ext uri="{FF2B5EF4-FFF2-40B4-BE49-F238E27FC236}">
                <a16:creationId xmlns:a16="http://schemas.microsoft.com/office/drawing/2014/main" id="{4B9C69FE-208A-460A-B54D-4A81C320D710}"/>
              </a:ext>
            </a:extLst>
          </p:cNvPr>
          <p:cNvSpPr>
            <a:spLocks noGrp="1"/>
          </p:cNvSpPr>
          <p:nvPr>
            <p:ph idx="1"/>
          </p:nvPr>
        </p:nvSpPr>
        <p:spPr/>
        <p:txBody>
          <a:bodyPr>
            <a:normAutofit fontScale="92500" lnSpcReduction="10000"/>
          </a:bodyPr>
          <a:lstStyle/>
          <a:p>
            <a:pPr algn="just"/>
            <a:r>
              <a:rPr lang="en-US" b="1" i="0" dirty="0" err="1">
                <a:solidFill>
                  <a:srgbClr val="444444"/>
                </a:solidFill>
                <a:effectLst/>
                <a:latin typeface="inherit"/>
              </a:rPr>
              <a:t>t.test</a:t>
            </a:r>
            <a:r>
              <a:rPr lang="en-US" b="1" i="0" dirty="0">
                <a:solidFill>
                  <a:srgbClr val="444444"/>
                </a:solidFill>
                <a:effectLst/>
                <a:latin typeface="inherit"/>
              </a:rPr>
              <a:t>(data.1, data.2)</a:t>
            </a:r>
            <a:r>
              <a:rPr lang="en-US" b="0" i="0" dirty="0">
                <a:solidFill>
                  <a:srgbClr val="444444"/>
                </a:solidFill>
                <a:effectLst/>
                <a:latin typeface="Georgia" panose="02040502050405020303" pitchFamily="18" charset="0"/>
              </a:rPr>
              <a:t> – The basic method of applying a t-test is to compare two vectors of numeric data.</a:t>
            </a:r>
          </a:p>
          <a:p>
            <a:pPr algn="just"/>
            <a:r>
              <a:rPr lang="en-US" b="1" i="0" dirty="0" err="1">
                <a:solidFill>
                  <a:srgbClr val="444444"/>
                </a:solidFill>
                <a:effectLst/>
                <a:latin typeface="inherit"/>
              </a:rPr>
              <a:t>var.equal</a:t>
            </a:r>
            <a:r>
              <a:rPr lang="en-US" b="1" i="0" dirty="0">
                <a:solidFill>
                  <a:srgbClr val="444444"/>
                </a:solidFill>
                <a:effectLst/>
                <a:latin typeface="inherit"/>
              </a:rPr>
              <a:t> = FALSE</a:t>
            </a:r>
            <a:r>
              <a:rPr lang="en-US" b="0" i="0" dirty="0">
                <a:solidFill>
                  <a:srgbClr val="444444"/>
                </a:solidFill>
                <a:effectLst/>
                <a:latin typeface="Georgia" panose="02040502050405020303" pitchFamily="18" charset="0"/>
              </a:rPr>
              <a:t> – If the </a:t>
            </a:r>
            <a:r>
              <a:rPr lang="en-US" b="0" i="0" dirty="0" err="1">
                <a:solidFill>
                  <a:srgbClr val="444444"/>
                </a:solidFill>
                <a:effectLst/>
                <a:latin typeface="Georgia" panose="02040502050405020303" pitchFamily="18" charset="0"/>
              </a:rPr>
              <a:t>var.equal</a:t>
            </a:r>
            <a:r>
              <a:rPr lang="en-US" b="0" i="0" dirty="0">
                <a:solidFill>
                  <a:srgbClr val="444444"/>
                </a:solidFill>
                <a:effectLst/>
                <a:latin typeface="Georgia" panose="02040502050405020303" pitchFamily="18" charset="0"/>
              </a:rPr>
              <a:t> instruction is set to TRUE, the variance is considered to be equal and the standard test is carried out. If the instruction is set to FALSE (the default), the variance is considered unequal and the Welch two-sample test is carried out.</a:t>
            </a:r>
          </a:p>
          <a:p>
            <a:pPr algn="l" fontAlgn="base">
              <a:buFont typeface="Arial" panose="020B0604020202020204" pitchFamily="34" charset="0"/>
              <a:buChar char="•"/>
            </a:pPr>
            <a:r>
              <a:rPr lang="en-US" b="1" i="0" dirty="0">
                <a:solidFill>
                  <a:srgbClr val="444444"/>
                </a:solidFill>
                <a:effectLst/>
                <a:latin typeface="inherit"/>
              </a:rPr>
              <a:t>mu = 0</a:t>
            </a:r>
            <a:r>
              <a:rPr lang="en-US" b="0" i="0" dirty="0">
                <a:solidFill>
                  <a:srgbClr val="444444"/>
                </a:solidFill>
                <a:effectLst/>
                <a:latin typeface="Georgia" panose="02040502050405020303" pitchFamily="18" charset="0"/>
              </a:rPr>
              <a:t> – If a one-sample test is carried out, mu indicates the mean against which the sample should be tested.</a:t>
            </a:r>
          </a:p>
          <a:p>
            <a:pPr algn="l" fontAlgn="base">
              <a:buFont typeface="Arial" panose="020B0604020202020204" pitchFamily="34" charset="0"/>
              <a:buChar char="•"/>
            </a:pPr>
            <a:r>
              <a:rPr lang="en-US" b="1" i="0" dirty="0">
                <a:solidFill>
                  <a:srgbClr val="444444"/>
                </a:solidFill>
                <a:effectLst/>
                <a:latin typeface="inherit"/>
              </a:rPr>
              <a:t>alternative = “</a:t>
            </a:r>
            <a:r>
              <a:rPr lang="en-US" b="1" i="0" dirty="0" err="1">
                <a:solidFill>
                  <a:srgbClr val="444444"/>
                </a:solidFill>
                <a:effectLst/>
                <a:latin typeface="inherit"/>
              </a:rPr>
              <a:t>two.sided</a:t>
            </a:r>
            <a:r>
              <a:rPr lang="en-US" b="1" i="0" dirty="0">
                <a:solidFill>
                  <a:srgbClr val="444444"/>
                </a:solidFill>
                <a:effectLst/>
                <a:latin typeface="inherit"/>
              </a:rPr>
              <a:t>”</a:t>
            </a:r>
            <a:r>
              <a:rPr lang="en-US" b="0" i="0" dirty="0">
                <a:solidFill>
                  <a:srgbClr val="444444"/>
                </a:solidFill>
                <a:effectLst/>
                <a:latin typeface="Georgia" panose="02040502050405020303" pitchFamily="18" charset="0"/>
              </a:rPr>
              <a:t> – It sets the alternative hypothesis. The default value for this is “</a:t>
            </a:r>
            <a:r>
              <a:rPr lang="en-US" b="0" i="0" dirty="0" err="1">
                <a:solidFill>
                  <a:srgbClr val="444444"/>
                </a:solidFill>
                <a:effectLst/>
                <a:latin typeface="Georgia" panose="02040502050405020303" pitchFamily="18" charset="0"/>
              </a:rPr>
              <a:t>two.sided</a:t>
            </a:r>
            <a:r>
              <a:rPr lang="en-US" b="0" i="0" dirty="0">
                <a:solidFill>
                  <a:srgbClr val="444444"/>
                </a:solidFill>
                <a:effectLst/>
                <a:latin typeface="Georgia" panose="02040502050405020303" pitchFamily="18" charset="0"/>
              </a:rPr>
              <a:t>” but a greater or lesser value can also be assigned. You can abbreviate the instruction.</a:t>
            </a:r>
          </a:p>
          <a:p>
            <a:pPr algn="l" fontAlgn="base">
              <a:buFont typeface="Arial" panose="020B0604020202020204" pitchFamily="34" charset="0"/>
              <a:buChar char="•"/>
            </a:pPr>
            <a:r>
              <a:rPr lang="en-US" b="1" i="0" dirty="0" err="1">
                <a:solidFill>
                  <a:srgbClr val="444444"/>
                </a:solidFill>
                <a:effectLst/>
                <a:latin typeface="inherit"/>
              </a:rPr>
              <a:t>conf.level</a:t>
            </a:r>
            <a:r>
              <a:rPr lang="en-US" b="1" i="0" dirty="0">
                <a:solidFill>
                  <a:srgbClr val="444444"/>
                </a:solidFill>
                <a:effectLst/>
                <a:latin typeface="inherit"/>
              </a:rPr>
              <a:t> = 0.95</a:t>
            </a:r>
            <a:r>
              <a:rPr lang="en-US" b="0" i="0" dirty="0">
                <a:solidFill>
                  <a:srgbClr val="444444"/>
                </a:solidFill>
                <a:effectLst/>
                <a:latin typeface="Georgia" panose="02040502050405020303" pitchFamily="18" charset="0"/>
              </a:rPr>
              <a:t> – It sets the confidence level of the interval (default = 0.95).</a:t>
            </a:r>
          </a:p>
          <a:p>
            <a:pPr algn="l" fontAlgn="base">
              <a:buFont typeface="Arial" panose="020B0604020202020204" pitchFamily="34" charset="0"/>
              <a:buChar char="•"/>
            </a:pPr>
            <a:r>
              <a:rPr lang="en-US" b="1" i="0" dirty="0">
                <a:solidFill>
                  <a:srgbClr val="444444"/>
                </a:solidFill>
                <a:effectLst/>
                <a:latin typeface="inherit"/>
              </a:rPr>
              <a:t>paired = FALSE</a:t>
            </a:r>
            <a:r>
              <a:rPr lang="en-US" b="0" i="0" dirty="0">
                <a:solidFill>
                  <a:srgbClr val="444444"/>
                </a:solidFill>
                <a:effectLst/>
                <a:latin typeface="Georgia" panose="02040502050405020303" pitchFamily="18" charset="0"/>
              </a:rPr>
              <a:t> – If set to TRUE, a matched pair T-test is carried out.</a:t>
            </a:r>
          </a:p>
          <a:p>
            <a:pPr algn="just"/>
            <a:endParaRPr lang="en-US" b="0" i="0" dirty="0">
              <a:solidFill>
                <a:srgbClr val="444444"/>
              </a:solidFill>
              <a:effectLst/>
              <a:latin typeface="Georgia" panose="02040502050405020303" pitchFamily="18" charset="0"/>
            </a:endParaRPr>
          </a:p>
          <a:p>
            <a:endParaRPr lang="en-US" dirty="0"/>
          </a:p>
        </p:txBody>
      </p:sp>
      <p:sp>
        <p:nvSpPr>
          <p:cNvPr id="4" name="Footer Placeholder 3">
            <a:extLst>
              <a:ext uri="{FF2B5EF4-FFF2-40B4-BE49-F238E27FC236}">
                <a16:creationId xmlns:a16="http://schemas.microsoft.com/office/drawing/2014/main" id="{3BB67072-EC14-4AC3-A641-8732F19B58D7}"/>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272A4115-AFBB-4F7D-9DD8-E6DCD3A27492}"/>
              </a:ext>
            </a:extLst>
          </p:cNvPr>
          <p:cNvSpPr>
            <a:spLocks noGrp="1"/>
          </p:cNvSpPr>
          <p:nvPr>
            <p:ph type="sldNum" sz="quarter" idx="12"/>
          </p:nvPr>
        </p:nvSpPr>
        <p:spPr/>
        <p:txBody>
          <a:bodyPr/>
          <a:lstStyle/>
          <a:p>
            <a:fld id="{77B0C4F3-D181-4D8A-A810-43D5FF850472}" type="slidenum">
              <a:rPr lang="en-US" smtClean="0"/>
              <a:t>8</a:t>
            </a:fld>
            <a:endParaRPr lang="en-US"/>
          </a:p>
        </p:txBody>
      </p:sp>
    </p:spTree>
    <p:extLst>
      <p:ext uri="{BB962C8B-B14F-4D97-AF65-F5344CB8AC3E}">
        <p14:creationId xmlns:p14="http://schemas.microsoft.com/office/powerpoint/2010/main" val="847754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13B5-9865-4EAF-B597-4907F172EA93}"/>
              </a:ext>
            </a:extLst>
          </p:cNvPr>
          <p:cNvSpPr>
            <a:spLocks noGrp="1"/>
          </p:cNvSpPr>
          <p:nvPr>
            <p:ph type="title"/>
          </p:nvPr>
        </p:nvSpPr>
        <p:spPr/>
        <p:txBody>
          <a:bodyPr/>
          <a:lstStyle/>
          <a:p>
            <a:r>
              <a:rPr lang="en-US" dirty="0"/>
              <a:t>One Sample Test</a:t>
            </a:r>
          </a:p>
        </p:txBody>
      </p:sp>
      <p:sp>
        <p:nvSpPr>
          <p:cNvPr id="3" name="Content Placeholder 2">
            <a:extLst>
              <a:ext uri="{FF2B5EF4-FFF2-40B4-BE49-F238E27FC236}">
                <a16:creationId xmlns:a16="http://schemas.microsoft.com/office/drawing/2014/main" id="{67410094-E68F-4EF6-AD59-D4B3CBB77221}"/>
              </a:ext>
            </a:extLst>
          </p:cNvPr>
          <p:cNvSpPr>
            <a:spLocks noGrp="1"/>
          </p:cNvSpPr>
          <p:nvPr>
            <p:ph idx="1"/>
          </p:nvPr>
        </p:nvSpPr>
        <p:spPr/>
        <p:txBody>
          <a:bodyPr/>
          <a:lstStyle/>
          <a:p>
            <a:r>
              <a:rPr lang="en-US" dirty="0" err="1"/>
              <a:t>t.test</a:t>
            </a:r>
            <a:r>
              <a:rPr lang="en-US" dirty="0"/>
              <a:t>(dataset, mu= 5)</a:t>
            </a:r>
          </a:p>
          <a:p>
            <a:r>
              <a:rPr lang="en-US" dirty="0" err="1"/>
              <a:t>t.test</a:t>
            </a:r>
            <a:r>
              <a:rPr lang="en-US" dirty="0"/>
              <a:t>(dataset, mu= 5, alternative = 'greater')</a:t>
            </a:r>
          </a:p>
          <a:p>
            <a:endParaRPr lang="en-US" dirty="0"/>
          </a:p>
        </p:txBody>
      </p:sp>
      <p:sp>
        <p:nvSpPr>
          <p:cNvPr id="4" name="Footer Placeholder 3">
            <a:extLst>
              <a:ext uri="{FF2B5EF4-FFF2-40B4-BE49-F238E27FC236}">
                <a16:creationId xmlns:a16="http://schemas.microsoft.com/office/drawing/2014/main" id="{1481201A-484B-4DD5-9D25-A91B8BCE7F43}"/>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D32CE542-C1F8-41DA-8431-3971A3FB1FF1}"/>
              </a:ext>
            </a:extLst>
          </p:cNvPr>
          <p:cNvSpPr>
            <a:spLocks noGrp="1"/>
          </p:cNvSpPr>
          <p:nvPr>
            <p:ph type="sldNum" sz="quarter" idx="12"/>
          </p:nvPr>
        </p:nvSpPr>
        <p:spPr/>
        <p:txBody>
          <a:bodyPr/>
          <a:lstStyle/>
          <a:p>
            <a:fld id="{77B0C4F3-D181-4D8A-A810-43D5FF850472}" type="slidenum">
              <a:rPr lang="en-US" smtClean="0"/>
              <a:t>9</a:t>
            </a:fld>
            <a:endParaRPr lang="en-US"/>
          </a:p>
        </p:txBody>
      </p:sp>
    </p:spTree>
    <p:extLst>
      <p:ext uri="{BB962C8B-B14F-4D97-AF65-F5344CB8AC3E}">
        <p14:creationId xmlns:p14="http://schemas.microsoft.com/office/powerpoint/2010/main" val="2299358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8656A-7656-41DB-93B1-9324A06BA284}"/>
              </a:ext>
            </a:extLst>
          </p:cNvPr>
          <p:cNvSpPr>
            <a:spLocks noGrp="1"/>
          </p:cNvSpPr>
          <p:nvPr>
            <p:ph type="title"/>
          </p:nvPr>
        </p:nvSpPr>
        <p:spPr/>
        <p:txBody>
          <a:bodyPr/>
          <a:lstStyle/>
          <a:p>
            <a:r>
              <a:rPr lang="en-US" b="1" dirty="0" err="1">
                <a:solidFill>
                  <a:srgbClr val="444444"/>
                </a:solidFill>
                <a:effectLst/>
                <a:latin typeface="Georgia" panose="02040502050405020303" pitchFamily="18" charset="0"/>
              </a:rPr>
              <a:t>wilcox.test</a:t>
            </a:r>
            <a:r>
              <a:rPr lang="en-US" b="1" dirty="0">
                <a:solidFill>
                  <a:srgbClr val="444444"/>
                </a:solidFill>
                <a:effectLst/>
                <a:latin typeface="Georgia" panose="02040502050405020303" pitchFamily="18" charset="0"/>
              </a:rPr>
              <a:t>( )</a:t>
            </a:r>
            <a:endParaRPr lang="en-US" b="1" dirty="0"/>
          </a:p>
        </p:txBody>
      </p:sp>
      <p:sp>
        <p:nvSpPr>
          <p:cNvPr id="3" name="Content Placeholder 2">
            <a:extLst>
              <a:ext uri="{FF2B5EF4-FFF2-40B4-BE49-F238E27FC236}">
                <a16:creationId xmlns:a16="http://schemas.microsoft.com/office/drawing/2014/main" id="{98D136F9-5F6C-4830-AF42-D8E6B1B60424}"/>
              </a:ext>
            </a:extLst>
          </p:cNvPr>
          <p:cNvSpPr>
            <a:spLocks noGrp="1"/>
          </p:cNvSpPr>
          <p:nvPr>
            <p:ph idx="1"/>
          </p:nvPr>
        </p:nvSpPr>
        <p:spPr/>
        <p:txBody>
          <a:bodyPr>
            <a:normAutofit fontScale="85000" lnSpcReduction="20000"/>
          </a:bodyPr>
          <a:lstStyle/>
          <a:p>
            <a:pPr algn="just"/>
            <a:r>
              <a:rPr lang="en-US" b="0" i="0" dirty="0">
                <a:solidFill>
                  <a:srgbClr val="444444"/>
                </a:solidFill>
                <a:effectLst/>
                <a:latin typeface="Georgia" panose="02040502050405020303" pitchFamily="18" charset="0"/>
              </a:rPr>
              <a:t>The </a:t>
            </a:r>
            <a:r>
              <a:rPr lang="en-US" b="0" i="0" dirty="0" err="1">
                <a:solidFill>
                  <a:srgbClr val="444444"/>
                </a:solidFill>
                <a:effectLst/>
                <a:latin typeface="Georgia" panose="02040502050405020303" pitchFamily="18" charset="0"/>
              </a:rPr>
              <a:t>wilcox.test</a:t>
            </a:r>
            <a:r>
              <a:rPr lang="en-US" b="0" i="0" dirty="0">
                <a:solidFill>
                  <a:srgbClr val="444444"/>
                </a:solidFill>
                <a:effectLst/>
                <a:latin typeface="Georgia" panose="02040502050405020303" pitchFamily="18" charset="0"/>
              </a:rPr>
              <a:t>( ) command can conduct two-sample or one-sample test.</a:t>
            </a:r>
          </a:p>
          <a:p>
            <a:pPr algn="just" fontAlgn="base">
              <a:buFont typeface="Arial" panose="020B0604020202020204" pitchFamily="34" charset="0"/>
              <a:buChar char="•"/>
            </a:pPr>
            <a:r>
              <a:rPr lang="en-US" b="1" i="0" dirty="0">
                <a:solidFill>
                  <a:srgbClr val="444444"/>
                </a:solidFill>
                <a:effectLst/>
                <a:latin typeface="inherit"/>
              </a:rPr>
              <a:t>test(sample.1, sample.2)</a:t>
            </a:r>
            <a:r>
              <a:rPr lang="en-US" b="0" i="0" dirty="0">
                <a:solidFill>
                  <a:srgbClr val="444444"/>
                </a:solidFill>
                <a:effectLst/>
                <a:latin typeface="Georgia" panose="02040502050405020303" pitchFamily="18" charset="0"/>
              </a:rPr>
              <a:t> – It carries out a basic two-sample μ-test on the numerical vectors specified.</a:t>
            </a:r>
          </a:p>
          <a:p>
            <a:pPr algn="just" fontAlgn="base">
              <a:buFont typeface="Arial" panose="020B0604020202020204" pitchFamily="34" charset="0"/>
              <a:buChar char="•"/>
            </a:pPr>
            <a:r>
              <a:rPr lang="en-US" b="1" i="0" dirty="0">
                <a:solidFill>
                  <a:srgbClr val="444444"/>
                </a:solidFill>
                <a:effectLst/>
                <a:latin typeface="inherit"/>
              </a:rPr>
              <a:t>mu = 0</a:t>
            </a:r>
            <a:r>
              <a:rPr lang="en-US" b="0" i="0" dirty="0">
                <a:solidFill>
                  <a:srgbClr val="444444"/>
                </a:solidFill>
                <a:effectLst/>
                <a:latin typeface="Georgia" panose="02040502050405020303" pitchFamily="18" charset="0"/>
              </a:rPr>
              <a:t> – If a one-sample test is carried out, mu indicates the value against which the sample should be tested.</a:t>
            </a:r>
          </a:p>
          <a:p>
            <a:pPr algn="just" fontAlgn="base">
              <a:buFont typeface="Arial" panose="020B0604020202020204" pitchFamily="34" charset="0"/>
              <a:buChar char="•"/>
            </a:pPr>
            <a:r>
              <a:rPr lang="en-US" b="1" i="0" dirty="0">
                <a:solidFill>
                  <a:srgbClr val="444444"/>
                </a:solidFill>
                <a:effectLst/>
                <a:latin typeface="inherit"/>
              </a:rPr>
              <a:t>alternative = “</a:t>
            </a:r>
            <a:r>
              <a:rPr lang="en-US" b="1" i="0" dirty="0" err="1">
                <a:solidFill>
                  <a:srgbClr val="444444"/>
                </a:solidFill>
                <a:effectLst/>
                <a:latin typeface="inherit"/>
              </a:rPr>
              <a:t>two.sided</a:t>
            </a:r>
            <a:r>
              <a:rPr lang="en-US" b="1" i="0" dirty="0">
                <a:solidFill>
                  <a:srgbClr val="444444"/>
                </a:solidFill>
                <a:effectLst/>
                <a:latin typeface="inherit"/>
              </a:rPr>
              <a:t>”</a:t>
            </a:r>
            <a:r>
              <a:rPr lang="en-US" b="0" i="0" dirty="0">
                <a:solidFill>
                  <a:srgbClr val="444444"/>
                </a:solidFill>
                <a:effectLst/>
                <a:latin typeface="Georgia" panose="02040502050405020303" pitchFamily="18" charset="0"/>
              </a:rPr>
              <a:t> – It sets the alternative hypothesis. “</a:t>
            </a:r>
            <a:r>
              <a:rPr lang="en-US" b="0" i="0" dirty="0" err="1">
                <a:solidFill>
                  <a:srgbClr val="444444"/>
                </a:solidFill>
                <a:effectLst/>
                <a:latin typeface="Georgia" panose="02040502050405020303" pitchFamily="18" charset="0"/>
              </a:rPr>
              <a:t>two.sided</a:t>
            </a:r>
            <a:r>
              <a:rPr lang="en-US" b="0" i="0" dirty="0">
                <a:solidFill>
                  <a:srgbClr val="444444"/>
                </a:solidFill>
                <a:effectLst/>
                <a:latin typeface="Georgia" panose="02040502050405020303" pitchFamily="18" charset="0"/>
              </a:rPr>
              <a:t>” is the default value, but a greater or lesser value can also be assigned. You can abbreviate the instruction but you still need the quotes.</a:t>
            </a:r>
          </a:p>
          <a:p>
            <a:pPr algn="just" fontAlgn="base">
              <a:buFont typeface="Arial" panose="020B0604020202020204" pitchFamily="34" charset="0"/>
              <a:buChar char="•"/>
            </a:pPr>
            <a:r>
              <a:rPr lang="en-US" b="1" i="0" dirty="0">
                <a:solidFill>
                  <a:srgbClr val="444444"/>
                </a:solidFill>
                <a:effectLst/>
                <a:latin typeface="inherit"/>
              </a:rPr>
              <a:t>int = FALSE</a:t>
            </a:r>
            <a:r>
              <a:rPr lang="en-US" b="0" i="0" dirty="0">
                <a:solidFill>
                  <a:srgbClr val="444444"/>
                </a:solidFill>
                <a:effectLst/>
                <a:latin typeface="Georgia" panose="02040502050405020303" pitchFamily="18" charset="0"/>
              </a:rPr>
              <a:t> – It sets whether confidence intervals should be reported or not.</a:t>
            </a:r>
          </a:p>
          <a:p>
            <a:pPr algn="just" fontAlgn="base">
              <a:buFont typeface="Arial" panose="020B0604020202020204" pitchFamily="34" charset="0"/>
              <a:buChar char="•"/>
            </a:pPr>
            <a:r>
              <a:rPr lang="en-US" b="1" i="0" dirty="0">
                <a:solidFill>
                  <a:srgbClr val="444444"/>
                </a:solidFill>
                <a:effectLst/>
                <a:latin typeface="inherit"/>
              </a:rPr>
              <a:t>level = 0.95</a:t>
            </a:r>
            <a:r>
              <a:rPr lang="en-US" b="0" i="0" dirty="0">
                <a:solidFill>
                  <a:srgbClr val="444444"/>
                </a:solidFill>
                <a:effectLst/>
                <a:latin typeface="Georgia" panose="02040502050405020303" pitchFamily="18" charset="0"/>
              </a:rPr>
              <a:t> – It sets the confidence level of the interval (default = 0.95).</a:t>
            </a:r>
          </a:p>
          <a:p>
            <a:pPr algn="just" fontAlgn="base">
              <a:buFont typeface="Arial" panose="020B0604020202020204" pitchFamily="34" charset="0"/>
              <a:buChar char="•"/>
            </a:pPr>
            <a:r>
              <a:rPr lang="en-US" b="1" i="0" dirty="0">
                <a:solidFill>
                  <a:srgbClr val="444444"/>
                </a:solidFill>
                <a:effectLst/>
                <a:latin typeface="inherit"/>
              </a:rPr>
              <a:t>correct = TRUE</a:t>
            </a:r>
            <a:r>
              <a:rPr lang="en-US" b="0" i="0" dirty="0">
                <a:solidFill>
                  <a:srgbClr val="444444"/>
                </a:solidFill>
                <a:effectLst/>
                <a:latin typeface="Georgia" panose="02040502050405020303" pitchFamily="18" charset="0"/>
              </a:rPr>
              <a:t> – By default, the continuity correction is applied. This can also be set to FALSE.</a:t>
            </a:r>
          </a:p>
          <a:p>
            <a:pPr algn="just" fontAlgn="base">
              <a:buFont typeface="Arial" panose="020B0604020202020204" pitchFamily="34" charset="0"/>
              <a:buChar char="•"/>
            </a:pPr>
            <a:r>
              <a:rPr lang="en-US" b="1" i="0" dirty="0">
                <a:solidFill>
                  <a:srgbClr val="444444"/>
                </a:solidFill>
                <a:effectLst/>
                <a:latin typeface="inherit"/>
              </a:rPr>
              <a:t>paired = FALSE</a:t>
            </a:r>
            <a:r>
              <a:rPr lang="en-US" b="0" i="0" dirty="0">
                <a:solidFill>
                  <a:srgbClr val="444444"/>
                </a:solidFill>
                <a:effectLst/>
                <a:latin typeface="Georgia" panose="02040502050405020303" pitchFamily="18" charset="0"/>
              </a:rPr>
              <a:t> – If set to TRUE, a matched pair μ-test is carried out.</a:t>
            </a:r>
          </a:p>
          <a:p>
            <a:pPr algn="just" fontAlgn="base">
              <a:buFont typeface="Arial" panose="020B0604020202020204" pitchFamily="34" charset="0"/>
              <a:buChar char="•"/>
            </a:pPr>
            <a:r>
              <a:rPr lang="en-US" b="1" i="0" dirty="0">
                <a:solidFill>
                  <a:srgbClr val="444444"/>
                </a:solidFill>
                <a:effectLst/>
                <a:latin typeface="inherit"/>
              </a:rPr>
              <a:t>exact = NULL</a:t>
            </a:r>
            <a:r>
              <a:rPr lang="en-US" b="0" i="0" dirty="0">
                <a:solidFill>
                  <a:srgbClr val="444444"/>
                </a:solidFill>
                <a:effectLst/>
                <a:latin typeface="Georgia" panose="02040502050405020303" pitchFamily="18" charset="0"/>
              </a:rPr>
              <a:t> – It sets whether an exact p-value should be computed. The default is to do so for less than 50 items.</a:t>
            </a:r>
          </a:p>
          <a:p>
            <a:endParaRPr lang="en-US" dirty="0"/>
          </a:p>
        </p:txBody>
      </p:sp>
      <p:sp>
        <p:nvSpPr>
          <p:cNvPr id="4" name="Footer Placeholder 3">
            <a:extLst>
              <a:ext uri="{FF2B5EF4-FFF2-40B4-BE49-F238E27FC236}">
                <a16:creationId xmlns:a16="http://schemas.microsoft.com/office/drawing/2014/main" id="{96B49F02-DFA5-4861-952E-B46B6BFB5A2B}"/>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F6945392-7725-4D72-9B0F-6B62ACB55A00}"/>
              </a:ext>
            </a:extLst>
          </p:cNvPr>
          <p:cNvSpPr>
            <a:spLocks noGrp="1"/>
          </p:cNvSpPr>
          <p:nvPr>
            <p:ph type="sldNum" sz="quarter" idx="12"/>
          </p:nvPr>
        </p:nvSpPr>
        <p:spPr/>
        <p:txBody>
          <a:bodyPr/>
          <a:lstStyle/>
          <a:p>
            <a:fld id="{77B0C4F3-D181-4D8A-A810-43D5FF850472}" type="slidenum">
              <a:rPr lang="en-US" smtClean="0"/>
              <a:t>10</a:t>
            </a:fld>
            <a:endParaRPr lang="en-US"/>
          </a:p>
        </p:txBody>
      </p:sp>
    </p:spTree>
    <p:extLst>
      <p:ext uri="{BB962C8B-B14F-4D97-AF65-F5344CB8AC3E}">
        <p14:creationId xmlns:p14="http://schemas.microsoft.com/office/powerpoint/2010/main" val="1941244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2DB6-D298-4A7A-AAA8-D5482A4157AD}"/>
              </a:ext>
            </a:extLst>
          </p:cNvPr>
          <p:cNvSpPr>
            <a:spLocks noGrp="1"/>
          </p:cNvSpPr>
          <p:nvPr>
            <p:ph type="title"/>
          </p:nvPr>
        </p:nvSpPr>
        <p:spPr/>
        <p:txBody>
          <a:bodyPr/>
          <a:lstStyle/>
          <a:p>
            <a:r>
              <a:rPr lang="en-US" b="0" i="0" dirty="0">
                <a:solidFill>
                  <a:srgbClr val="444444"/>
                </a:solidFill>
                <a:effectLst/>
                <a:latin typeface="Georgia" panose="02040502050405020303" pitchFamily="18" charset="0"/>
              </a:rPr>
              <a:t>Correlation and Covariance in R</a:t>
            </a:r>
            <a:endParaRPr lang="en-US" dirty="0"/>
          </a:p>
        </p:txBody>
      </p:sp>
      <p:sp>
        <p:nvSpPr>
          <p:cNvPr id="3" name="Content Placeholder 2">
            <a:extLst>
              <a:ext uri="{FF2B5EF4-FFF2-40B4-BE49-F238E27FC236}">
                <a16:creationId xmlns:a16="http://schemas.microsoft.com/office/drawing/2014/main" id="{F054A76A-9D8C-40EC-878A-00D3604EF48B}"/>
              </a:ext>
            </a:extLst>
          </p:cNvPr>
          <p:cNvSpPr>
            <a:spLocks noGrp="1"/>
          </p:cNvSpPr>
          <p:nvPr>
            <p:ph idx="1"/>
          </p:nvPr>
        </p:nvSpPr>
        <p:spPr/>
        <p:txBody>
          <a:bodyPr>
            <a:normAutofit fontScale="85000" lnSpcReduction="20000"/>
          </a:bodyPr>
          <a:lstStyle/>
          <a:p>
            <a:pPr algn="just"/>
            <a:r>
              <a:rPr lang="en-US" sz="3200" b="0" i="0" dirty="0">
                <a:solidFill>
                  <a:srgbClr val="444444"/>
                </a:solidFill>
                <a:effectLst/>
                <a:latin typeface="Georgia" panose="02040502050405020303" pitchFamily="18" charset="0"/>
              </a:rPr>
              <a:t>When you have two continuous variables, you can look for a link between them. </a:t>
            </a:r>
          </a:p>
          <a:p>
            <a:pPr algn="just"/>
            <a:r>
              <a:rPr lang="en-US" sz="3200" b="0" i="0" dirty="0">
                <a:solidFill>
                  <a:srgbClr val="444444"/>
                </a:solidFill>
                <a:effectLst/>
                <a:latin typeface="Georgia" panose="02040502050405020303" pitchFamily="18" charset="0"/>
              </a:rPr>
              <a:t>This link is called a correlation.</a:t>
            </a:r>
          </a:p>
          <a:p>
            <a:pPr algn="just"/>
            <a:r>
              <a:rPr lang="en-US" sz="3200" b="0" dirty="0">
                <a:solidFill>
                  <a:srgbClr val="444444"/>
                </a:solidFill>
                <a:effectLst/>
                <a:latin typeface="Georgia" panose="02040502050405020303" pitchFamily="18" charset="0"/>
              </a:rPr>
              <a:t>The </a:t>
            </a:r>
            <a:r>
              <a:rPr lang="en-US" sz="3200" b="0" dirty="0" err="1">
                <a:solidFill>
                  <a:srgbClr val="444444"/>
                </a:solidFill>
                <a:effectLst/>
                <a:latin typeface="Georgia" panose="02040502050405020303" pitchFamily="18" charset="0"/>
              </a:rPr>
              <a:t>cor</a:t>
            </a:r>
            <a:r>
              <a:rPr lang="en-US" sz="3200" b="0" dirty="0">
                <a:solidFill>
                  <a:srgbClr val="444444"/>
                </a:solidFill>
                <a:effectLst/>
                <a:latin typeface="Georgia" panose="02040502050405020303" pitchFamily="18" charset="0"/>
              </a:rPr>
              <a:t>( ) command determines correlations between two vectors, all the columns of a data frame, or two data frames. </a:t>
            </a:r>
          </a:p>
          <a:p>
            <a:pPr algn="just"/>
            <a:r>
              <a:rPr lang="en-US" sz="3200" b="0" dirty="0">
                <a:solidFill>
                  <a:srgbClr val="444444"/>
                </a:solidFill>
                <a:effectLst/>
                <a:latin typeface="Georgia" panose="02040502050405020303" pitchFamily="18" charset="0"/>
              </a:rPr>
              <a:t>The </a:t>
            </a:r>
            <a:r>
              <a:rPr lang="en-US" sz="3200" b="0" dirty="0" err="1">
                <a:solidFill>
                  <a:srgbClr val="444444"/>
                </a:solidFill>
                <a:effectLst/>
                <a:latin typeface="Georgia" panose="02040502050405020303" pitchFamily="18" charset="0"/>
              </a:rPr>
              <a:t>cov</a:t>
            </a:r>
            <a:r>
              <a:rPr lang="en-US" sz="3200" b="0" dirty="0">
                <a:solidFill>
                  <a:srgbClr val="444444"/>
                </a:solidFill>
                <a:effectLst/>
                <a:latin typeface="Georgia" panose="02040502050405020303" pitchFamily="18" charset="0"/>
              </a:rPr>
              <a:t>( ) command examines covariance. </a:t>
            </a:r>
          </a:p>
          <a:p>
            <a:pPr algn="just"/>
            <a:r>
              <a:rPr lang="en-US" sz="3200" b="0" dirty="0">
                <a:solidFill>
                  <a:srgbClr val="444444"/>
                </a:solidFill>
                <a:effectLst/>
                <a:latin typeface="Georgia" panose="02040502050405020303" pitchFamily="18" charset="0"/>
              </a:rPr>
              <a:t>The </a:t>
            </a:r>
            <a:r>
              <a:rPr lang="en-US" sz="3200" b="0" dirty="0" err="1">
                <a:solidFill>
                  <a:srgbClr val="444444"/>
                </a:solidFill>
                <a:effectLst/>
                <a:latin typeface="Georgia" panose="02040502050405020303" pitchFamily="18" charset="0"/>
              </a:rPr>
              <a:t>cor.test</a:t>
            </a:r>
            <a:r>
              <a:rPr lang="en-US" sz="3200" b="0" dirty="0">
                <a:solidFill>
                  <a:srgbClr val="444444"/>
                </a:solidFill>
                <a:effectLst/>
                <a:latin typeface="Georgia" panose="02040502050405020303" pitchFamily="18" charset="0"/>
              </a:rPr>
              <a:t>() command carries out a test of significance of the correlation.</a:t>
            </a:r>
            <a:endParaRPr lang="en-US" sz="3200" dirty="0"/>
          </a:p>
        </p:txBody>
      </p:sp>
      <p:sp>
        <p:nvSpPr>
          <p:cNvPr id="4" name="Footer Placeholder 3">
            <a:extLst>
              <a:ext uri="{FF2B5EF4-FFF2-40B4-BE49-F238E27FC236}">
                <a16:creationId xmlns:a16="http://schemas.microsoft.com/office/drawing/2014/main" id="{CAD651C9-D921-4E8C-8166-69D63AA18FEC}"/>
              </a:ext>
            </a:extLst>
          </p:cNvPr>
          <p:cNvSpPr>
            <a:spLocks noGrp="1"/>
          </p:cNvSpPr>
          <p:nvPr>
            <p:ph type="ftr" sz="quarter" idx="11"/>
          </p:nvPr>
        </p:nvSpPr>
        <p:spPr/>
        <p:txBody>
          <a:bodyPr/>
          <a:lstStyle/>
          <a:p>
            <a:r>
              <a:rPr lang="en-US"/>
              <a:t>ICBT Batch33</a:t>
            </a:r>
          </a:p>
        </p:txBody>
      </p:sp>
      <p:sp>
        <p:nvSpPr>
          <p:cNvPr id="5" name="Slide Number Placeholder 4">
            <a:extLst>
              <a:ext uri="{FF2B5EF4-FFF2-40B4-BE49-F238E27FC236}">
                <a16:creationId xmlns:a16="http://schemas.microsoft.com/office/drawing/2014/main" id="{A036A1B4-620F-4AA6-8FC5-E586C029910B}"/>
              </a:ext>
            </a:extLst>
          </p:cNvPr>
          <p:cNvSpPr>
            <a:spLocks noGrp="1"/>
          </p:cNvSpPr>
          <p:nvPr>
            <p:ph type="sldNum" sz="quarter" idx="12"/>
          </p:nvPr>
        </p:nvSpPr>
        <p:spPr/>
        <p:txBody>
          <a:bodyPr/>
          <a:lstStyle/>
          <a:p>
            <a:fld id="{77B0C4F3-D181-4D8A-A810-43D5FF850472}" type="slidenum">
              <a:rPr lang="en-US" smtClean="0"/>
              <a:t>11</a:t>
            </a:fld>
            <a:endParaRPr lang="en-US"/>
          </a:p>
        </p:txBody>
      </p:sp>
    </p:spTree>
    <p:extLst>
      <p:ext uri="{BB962C8B-B14F-4D97-AF65-F5344CB8AC3E}">
        <p14:creationId xmlns:p14="http://schemas.microsoft.com/office/powerpoint/2010/main" val="2502952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7</TotalTime>
  <Words>783</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Century Gothic</vt:lpstr>
      <vt:lpstr>Consolas</vt:lpstr>
      <vt:lpstr>Georgia</vt:lpstr>
      <vt:lpstr>inherit</vt:lpstr>
      <vt:lpstr>Lato</vt:lpstr>
      <vt:lpstr>Wingdings 3</vt:lpstr>
      <vt:lpstr>Wisp</vt:lpstr>
      <vt:lpstr>Different Graphs in R</vt:lpstr>
      <vt:lpstr>Histograms</vt:lpstr>
      <vt:lpstr>Boxplot</vt:lpstr>
      <vt:lpstr>Scatter Plot</vt:lpstr>
      <vt:lpstr>Normal QQ Plot</vt:lpstr>
      <vt:lpstr>Hypothesis Testing</vt:lpstr>
      <vt:lpstr>T Test</vt:lpstr>
      <vt:lpstr>T Test Commands</vt:lpstr>
      <vt:lpstr>One Sample Test</vt:lpstr>
      <vt:lpstr>wilcox.test( )</vt:lpstr>
      <vt:lpstr>Correlation and Covariance in 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Graphs in R</dc:title>
  <dc:creator>hasini danulka</dc:creator>
  <cp:lastModifiedBy>Dileepa Hewapaula</cp:lastModifiedBy>
  <cp:revision>8</cp:revision>
  <dcterms:created xsi:type="dcterms:W3CDTF">2022-03-20T02:34:32Z</dcterms:created>
  <dcterms:modified xsi:type="dcterms:W3CDTF">2026-06-22T08:29:38Z</dcterms:modified>
</cp:coreProperties>
</file>